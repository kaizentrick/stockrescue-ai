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1bb4b240844b83" /><Relationship Type="http://schemas.openxmlformats.org/officeDocument/2006/relationships/extended-properties" Target="/docProps/app.xml" Id="R9c5d5940eadc4a94" /><Relationship Type="http://schemas.openxmlformats.org/officeDocument/2006/relationships/officeDocument" Target="/ppt/presentation.xml" Id="Re165b2a3a5fe40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14b276b3d44dda"/>
  </p:sldMasterIdLst>
  <p:notesMasterIdLst>
    <p:notesMasterId xmlns:r="http://schemas.openxmlformats.org/officeDocument/2006/relationships" r:id="Re7ed5deabb6041c9"/>
  </p:notesMasterIdLst>
  <p:sldIdLst>
    <p:sldId xmlns:r="http://schemas.openxmlformats.org/officeDocument/2006/relationships" id="256" r:id="R124cf7f553574451"/>
    <p:sldId xmlns:r="http://schemas.openxmlformats.org/officeDocument/2006/relationships" id="257" r:id="R79747c98b2fa4b14"/>
    <p:sldId xmlns:r="http://schemas.openxmlformats.org/officeDocument/2006/relationships" id="258" r:id="Re4f317669cb64909"/>
    <p:sldId xmlns:r="http://schemas.openxmlformats.org/officeDocument/2006/relationships" id="259" r:id="Rb8a6859e30124ba7"/>
    <p:sldId xmlns:r="http://schemas.openxmlformats.org/officeDocument/2006/relationships" id="260" r:id="R8fd370c3a088483c"/>
    <p:sldId xmlns:r="http://schemas.openxmlformats.org/officeDocument/2006/relationships" id="261" r:id="Re646bcb38abf4174"/>
    <p:sldId xmlns:r="http://schemas.openxmlformats.org/officeDocument/2006/relationships" id="262" r:id="R1b97085436364d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37bde019a84641" /><Relationship Type="http://schemas.openxmlformats.org/officeDocument/2006/relationships/slideMaster" Target="/ppt/slideMasters/slideMaster1.xml" Id="R9a14b276b3d44dda" /><Relationship Type="http://schemas.openxmlformats.org/officeDocument/2006/relationships/notesMaster" Target="/ppt/notesMasters/notesMaster1.xml" Id="Re7ed5deabb6041c9" /><Relationship Type="http://schemas.openxmlformats.org/officeDocument/2006/relationships/presProps" Target="/ppt/presProps.xml" Id="R17c564f7badf44f7" /><Relationship Type="http://schemas.openxmlformats.org/officeDocument/2006/relationships/tableStyles" Target="/ppt/tableStyles.xml" Id="R276c5e550d5f4a02" /><Relationship Type="http://schemas.openxmlformats.org/officeDocument/2006/relationships/slide" Target="/ppt/slides/slide1.xml" Id="R124cf7f553574451" /><Relationship Type="http://schemas.openxmlformats.org/officeDocument/2006/relationships/slide" Target="/ppt/slides/slide2.xml" Id="R79747c98b2fa4b14" /><Relationship Type="http://schemas.openxmlformats.org/officeDocument/2006/relationships/slide" Target="/ppt/slides/slide3.xml" Id="Re4f317669cb64909" /><Relationship Type="http://schemas.openxmlformats.org/officeDocument/2006/relationships/slide" Target="/ppt/slides/slide4.xml" Id="Rb8a6859e30124ba7" /><Relationship Type="http://schemas.openxmlformats.org/officeDocument/2006/relationships/slide" Target="/ppt/slides/slide5.xml" Id="R8fd370c3a088483c" /><Relationship Type="http://schemas.openxmlformats.org/officeDocument/2006/relationships/slide" Target="/ppt/slides/slide6.xml" Id="Re646bcb38abf4174" /><Relationship Type="http://schemas.openxmlformats.org/officeDocument/2006/relationships/slide" Target="/ppt/slides/slide7.xml" Id="R1b97085436364d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832246dc5f4e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dca515507b4b4f" /><Relationship Type="http://schemas.openxmlformats.org/officeDocument/2006/relationships/notesMaster" Target="/ppt/notesMasters/notesMaster1.xml" Id="R68298e7bc30e44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8ef87789724081" /><Relationship Type="http://schemas.openxmlformats.org/officeDocument/2006/relationships/notesMaster" Target="/ppt/notesMasters/notesMaster1.xml" Id="R434ad91bc3c745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53209805b84636" /><Relationship Type="http://schemas.openxmlformats.org/officeDocument/2006/relationships/notesMaster" Target="/ppt/notesMasters/notesMaster1.xml" Id="Rd4b90ee4dc3445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9e9df424c74912" /><Relationship Type="http://schemas.openxmlformats.org/officeDocument/2006/relationships/notesMaster" Target="/ppt/notesMasters/notesMaster1.xml" Id="Rf2f5d430eafe49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eedbd1adfe45de" /><Relationship Type="http://schemas.openxmlformats.org/officeDocument/2006/relationships/notesMaster" Target="/ppt/notesMasters/notesMaster1.xml" Id="R339fba324eff45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3ef64b54ce410e" /><Relationship Type="http://schemas.openxmlformats.org/officeDocument/2006/relationships/notesMaster" Target="/ppt/notesMasters/notesMaster1.xml" Id="R1231f76272644d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5ff5235651491e" /><Relationship Type="http://schemas.openxmlformats.org/officeDocument/2006/relationships/notesMaster" Target="/ppt/notesMasters/notesMaster1.xml" Id="R2f6fbc3c619b46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0:00–0:25 (25 segundos)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GUION</a:t>
            </a:r>
          </a:p>
          <a:p xmlns:a="http://schemas.openxmlformats.org/drawingml/2006/main">
            <a:r>
              <a:t>Un puesto necesita conectar su monitor y TI tiene que decidir qué hacer. Nuestro agente revisa el equipo disponible y la evidencia técnica para proponer reutilizar o comprar una pieza compatible. Cuando hace falta comprar, el flujo exige una cotización y una aprobación explícita. Este prototipo usa una simulación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CONTEXTO</a:t>
            </a:r>
          </a:p>
          <a:p xmlns:a="http://schemas.openxmlformats.org/drawingml/2006/main">
            <a:r>
              <a:t>- Nombre descriptivo provisional. Estado técnico reportado por el equipo al 9 de octubre de 2026, 19:00, Ciudad de México.</a:t>
            </a:r>
          </a:p>
          <a:p xmlns:a="http://schemas.openxmlformats.org/drawingml/2006/main">
            <a:r>
              <a:t>- Y Combinator, How to Design a Better Pitch Deck, consultado el 9 de octubre de 2026: https://www.ycombinator.com/blog/how-to-design-a-better-pitch-deck</a:t>
            </a:r>
          </a:p>
          <a:p xmlns:a="http://schemas.openxmlformats.org/drawingml/2006/main">
            <a:r>
              <a:t>- Imagen de portada: ilustración conceptual generada con IA. No muestra equipos, pruebas ni clientes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de estado: 9 de octubre de 2026, 19:00, Ciudad de México.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0:25–1:00 (35 segundos)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GUION</a:t>
            </a:r>
          </a:p>
          <a:p xmlns:a="http://schemas.openxmlformats.org/drawingml/2006/main">
            <a:r>
              <a:t>Pensemos en una oficina con distintos modelos de computadoras. Cambia una laptop y el monitor deja de conectar. Operaciones busca un accesorio, TI verifica si funciona y alguien autoriza el gasto. La solicitud se reparte entre personas y mensajes. Nuestro caso de prueba tiene tres portátiles, tres monitores y dos adaptadores. Contarlos no demuestra que falte uno: primero debemos conocer los puertos, los cables y la conexión que necesita cada puesto.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CONTEXTO</a:t>
            </a:r>
          </a:p>
          <a:p xmlns:a="http://schemas.openxmlformats.org/drawingml/2006/main">
            <a:r>
              <a:t>- Escenario sintético del proyecto. La frecuencia, el costo y el impacto del problema todavía requieren validación con usuarios.</a:t>
            </a:r>
          </a:p>
          <a:p xmlns:a="http://schemas.openxmlformats.org/drawingml/2006/main">
            <a:r>
              <a:t>- Dell, How to Choose a USB Type-C Dock or a USB Type-A Dock for Compatibility, consultado el 9 de octubre de 2026: https://www.dell.com/support/kbdoc/en-us/000125885/usb-and-usb-type-c-dock-compatibility-list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de estado: 9 de octubre de 2026, 19:00, Ciudad de México.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1:00–1:45 (45 segundos)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GUION</a:t>
            </a:r>
          </a:p>
          <a:p xmlns:a="http://schemas.openxmlformats.org/drawingml/2006/main">
            <a:r>
              <a:t>El agente compara el objetivo del puesto con los modelos exactos y sus fichas. USB-C por sí solo no prueba que haya salida de video. Si el inventario permite una conexión válida, propone reutilizar y termina sin compra. Si falta información, pide ese dato. Si comprueba un faltante, compara componentes compatibles y proveedores permitidos. El presupuesto se verifica contra el total con envío e impuestos. La hipótesis de valor es reducir decisiones equivocadas y trabajo de revisión. Todavía no presentamos esos beneficios como resultados medidos.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CONTEXTO</a:t>
            </a:r>
          </a:p>
          <a:p xmlns:a="http://schemas.openxmlformats.org/drawingml/2006/main">
            <a:r>
              <a:t>- Diseño del producto e hipótesis por validar. Las fichas e inventario del caso de demostración son sintéticos.</a:t>
            </a:r>
          </a:p>
          <a:p xmlns:a="http://schemas.openxmlformats.org/drawingml/2006/main">
            <a:r>
              <a:t>- Dell, guía de compatibilidad de docks, consultada el 9 de octubre de 2026: https://www.dell.com/support/kbdoc/en-us/000125885/usb-and-usb-type-c-dock-compatibility-list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de estado: 9 de octubre de 2026, 19:00, Ciudad de México.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1:45–2:35 (50 segundos)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GUION</a:t>
            </a:r>
          </a:p>
          <a:p xmlns:a="http://schemas.openxmlformats.org/drawingml/2006/main">
            <a:r>
              <a:t>La demo recorre una solicitud concreta. Primero explica la pieza elegida y conserva la evidencia. Después presenta la cotización exacta: variante, comercio, cantidad, moneda y total. La persona aprueba esas condiciones. El paso que estamos preparando es ejecutar el Agentic module de Reap en sandbox y consultar el estado del mismo intento. Hoy este recorrido de checkout funciona en simulación local y la conexión real a Reap sigue pendiente de validación. Incluso con un pedido confirmado, el expediente mantiene la instalación pendiente. La prueba funcional del puesto viene después.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CONTEXTO</a:t>
            </a:r>
          </a:p>
          <a:p xmlns:a="http://schemas.openxmlformats.org/drawingml/2006/main">
            <a:r>
              <a:t>- Estado al 9 de octubre de 2026, 19:00, Ciudad de México: interfaz y ciclo de checkout en simulación local. Adaptador Reap deshabilitado. No hay ejecución de API real verificada.</a:t>
            </a:r>
          </a:p>
          <a:p xmlns:a="http://schemas.openxmlformats.org/drawingml/2006/main">
            <a:r>
              <a:t>- AI Builders México, guía oficial del Agentic Hackathon, consultada el 9 de octubre de 2026: https://aibuilders.mx/reap#apis</a:t>
            </a:r>
          </a:p>
          <a:p xmlns:a="http://schemas.openxmlformats.org/drawingml/2006/main">
            <a:r>
              <a:t>- Reap, One-time purchases, documentación de referencia consultada para el proyecto: https://docs.reap.global/agentic-payments/one-time-purchases</a:t>
            </a:r>
          </a:p>
          <a:p xmlns:a="http://schemas.openxmlformats.org/drawingml/2006/main">
            <a:r>
              <a:t>- Captura real del prototipo local, revisión 9ff255e, proporcionada por el equipo. Detalle del archivo preview.jpg. Inventario y datos sintéticos. El recorte conserva el estado del pedido y la instalación pendiente. No es una captura de Reap.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de estado: 9 de octubre de 2026, 19:00, Ciudad de México.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2:35–3:15 (40 segundos)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GUION</a:t>
            </a:r>
          </a:p>
          <a:p xmlns:a="http://schemas.openxmlformats.org/drawingml/2006/main">
            <a:r>
              <a:t>Queremos que el límite sea visible. Una compatibilidad desconocida exige más evidencia. Un total fuera del presupuesto bloquea la compra. Si cambia la cotización, caduca la aprobación anterior. Y si la respuesta tarda, conservamos el intento y consultamos su estado antes de volver a comprar. Ya probamos localmente la invalidación por cambio de cotización, la conciliación tras un timeout y la nueva aprobación después de un fallo o vencimiento. Falta repetir el recorrido contra Reap sandbox con evidencia de sus respuestas.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CONTEXTO</a:t>
            </a:r>
          </a:p>
          <a:p xmlns:a="http://schemas.openxmlformats.org/drawingml/2006/main">
            <a:r>
              <a:t>- Pruebas del prototipo reportadas por ingeniería al 9 de octubre de 2026, 19:00, Ciudad de México. Los resultados descritos pertenecen al mock local.</a:t>
            </a:r>
          </a:p>
          <a:p xmlns:a="http://schemas.openxmlformats.org/drawingml/2006/main">
            <a:r>
              <a:t>- Reap, One-time purchases: https://docs.reap.global/agentic-payments/one-time-purchases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de estado: 9 de octubre de 2026, 19:00, Ciudad de México.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3:15–3:50 (35 segundos)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GUION</a:t>
            </a:r>
          </a:p>
          <a:p xmlns:a="http://schemas.openxmlformats.org/drawingml/2006/main">
            <a:r>
              <a:t>Nuestra primera hipótesis son oficinas con equipos de distintos modelos y solicitudes frecuentes de altas o reemplazos. TI usaría el producto y operaciones o administración evaluaría el pago. Hoy pueden resolverlo con su técnico, un proveedor, hojas de cálculo o herramientas de compras. Nuestra apuesta es un expediente que justifique la compatibilidad y la reutilización antes del gasto. Hay que demostrar que ese trabajo adicional merece pagarse. Proponemos probar cobro por organización con solicitudes limitadas, sin fijar todavía un precio.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CONTEXTO</a:t>
            </a:r>
          </a:p>
          <a:p xmlns:a="http://schemas.openxmlformats.org/drawingml/2006/main">
            <a:r>
              <a:t>- Hipótesis comercial y propuesta de modelo de ingresos. No hay clientes, pilotos adquiridos, ingresos ni disposición a pagar acreditados.</a:t>
            </a:r>
          </a:p>
          <a:p xmlns:a="http://schemas.openxmlformats.org/drawingml/2006/main">
            <a:r>
              <a:t>- Sequoia Capital, Writing a Business Plan, publicada el 15 de marzo de 2019, consultada el 9 de octubre de 2026: https://sequoiacap.com/article/writing-a-business-plan</a:t>
            </a:r>
          </a:p>
          <a:p xmlns:a="http://schemas.openxmlformats.org/drawingml/2006/main">
            <a:r>
              <a:t>- Clara México, producto de gestión de gasto, referencia competitiva: https://www.clara.com/es-mx/productos/gestion-gastos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de estado: 9 de octubre de 2026, 19:00, Ciudad de México.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3:50–4:20 (30 segundos)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GUION</a:t>
            </a:r>
          </a:p>
          <a:p xmlns:a="http://schemas.openxmlformats.org/drawingml/2006/main">
            <a:r>
              <a:t>Tenemos un prototipo local y controles del checkout probados en ese entorno. El siguiente paso técnico es verificar el ciclo completo con Reap sandbox y un comercio permitido. Después proponemos cinco pilotos para comparar decisiones correctas, minutos de trabajo y disposición a pagar frente al proceso habitual. La pregunta que queremos responder es sencilla: ¿puede TI resolver mejor esta solicitud, con evidencia suficiente y una compra autorizada cuando realmente hace falta?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CONTEXTO</a:t>
            </a:r>
          </a:p>
          <a:p xmlns:a="http://schemas.openxmlformats.org/drawingml/2006/main">
            <a:r>
              <a:t>- Plan propuesto. Cinco pilotos es una meta de validación, no tracción. No se ha realizado contacto con prospectos ni adquirido compromisos.</a:t>
            </a:r>
          </a:p>
          <a:p xmlns:a="http://schemas.openxmlformats.org/drawingml/2006/main">
            <a:r>
              <a:t>- AI Builders México, requisito de Agentic module, sandbox y comercios soportados: https://aibuilders.mx/reap#apis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Corte de estado: 9 de octubre de 2026, 19:00, Ciudad de México.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2e02a1f1441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0a7f022b994e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f73ae9dbf4b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fd70a6347f49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39c46b6d749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e004f184c446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A50D9A-B4D7-464F-AD43-75D7B49B10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DF38A3-6186-4BAF-9967-9008681369F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AB434F0-E57B-4417-9822-A68A5013AA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896C45-9E50-44AA-ABC4-F32CE20EA8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54045EB-11D3-4566-96D4-E7CD32372E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2C04F2-DCB5-4B1F-B4F6-ABF83AC1A4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F6DF73-994C-4BBF-B4AE-186D187AB9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E8E526-DA23-426B-84D8-374BA45D17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31738E-95BE-47D1-8C11-1C32324341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2F37FC-789E-49CE-ACD4-8A922F229F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fc40c8e0044b90" /><Relationship Type="http://schemas.openxmlformats.org/officeDocument/2006/relationships/slideLayout" Target="/ppt/slideLayouts/slideLayout1.xml" Id="R17e554a41c644db7" /><Relationship Type="http://schemas.openxmlformats.org/officeDocument/2006/relationships/slideLayout" Target="/ppt/slideLayouts/slideLayout2.xml" Id="Re4996a273e1046dc" /><Relationship Type="http://schemas.openxmlformats.org/officeDocument/2006/relationships/slideLayout" Target="/ppt/slideLayouts/slideLayout3.xml" Id="Rcc4c76f783ee45fc" /><Relationship Type="http://schemas.openxmlformats.org/officeDocument/2006/relationships/slideLayout" Target="/ppt/slideLayouts/slideLayout4.xml" Id="R47f3085cce2b45f7" /><Relationship Type="http://schemas.openxmlformats.org/officeDocument/2006/relationships/slideLayout" Target="/ppt/slideLayouts/slideLayout5.xml" Id="R02a8f3ec4925490f" /><Relationship Type="http://schemas.openxmlformats.org/officeDocument/2006/relationships/slideLayout" Target="/ppt/slideLayouts/slideLayout6.xml" Id="R0a1e358c5a4a4e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e554a41c644db7"/>
    <p:sldLayoutId xmlns:r="http://schemas.openxmlformats.org/officeDocument/2006/relationships" id="2147483650" r:id="Re4996a273e1046dc"/>
    <p:sldLayoutId xmlns:r="http://schemas.openxmlformats.org/officeDocument/2006/relationships" id="2147483651" r:id="Rcc4c76f783ee45fc"/>
    <p:sldLayoutId xmlns:r="http://schemas.openxmlformats.org/officeDocument/2006/relationships" id="2147483652" r:id="R47f3085cce2b45f7"/>
    <p:sldLayoutId xmlns:r="http://schemas.openxmlformats.org/officeDocument/2006/relationships" id="2147483653" r:id="R02a8f3ec4925490f"/>
    <p:sldLayoutId xmlns:r="http://schemas.openxmlformats.org/officeDocument/2006/relationships" id="2147483654" r:id="R0a1e358c5a4a4e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e426bb2b3f4fcb" /><Relationship Type="http://schemas.openxmlformats.org/officeDocument/2006/relationships/image" Target="/ppt/media/image.png" Id="Raaaeef7c0f8c41b6" /><Relationship Type="http://schemas.openxmlformats.org/officeDocument/2006/relationships/notesSlide" Target="/ppt/notesSlides/notesSlide1.xml" Id="R2b064b8561da45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b720ea86424e5b" /><Relationship Type="http://schemas.openxmlformats.org/officeDocument/2006/relationships/notesSlide" Target="/ppt/notesSlides/notesSlide2.xml" Id="R76605c16d3fa40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969d3af33c471b" /><Relationship Type="http://schemas.openxmlformats.org/officeDocument/2006/relationships/notesSlide" Target="/ppt/notesSlides/notesSlide3.xml" Id="R51811b07db4048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5b31104f9f4e4a" /><Relationship Type="http://schemas.openxmlformats.org/officeDocument/2006/relationships/image" Target="/ppt/media/image.jpeg" Id="R47413fcabee04c75" /><Relationship Type="http://schemas.openxmlformats.org/officeDocument/2006/relationships/notesSlide" Target="/ppt/notesSlides/notesSlide4.xml" Id="Ra25e25bdc4444b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feaec1b3254276" /><Relationship Type="http://schemas.openxmlformats.org/officeDocument/2006/relationships/notesSlide" Target="/ppt/notesSlides/notesSlide5.xml" Id="R00b757e7a3a843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cf49af518944c2" /><Relationship Type="http://schemas.openxmlformats.org/officeDocument/2006/relationships/notesSlide" Target="/ppt/notesSlides/notesSlide6.xml" Id="R40b3023762e64d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3e91ae285b40b3" /><Relationship Type="http://schemas.openxmlformats.org/officeDocument/2006/relationships/notesSlide" Target="/ppt/notesSlides/notesSlide7.xml" Id="R45d7815a09a04e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638E9-15CA-4D42-A566-1EB7569C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98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787C0-A2A6-401A-BDEE-80AE32CE38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eef7c0f8c41b6"/>
          <a:srcRect xmlns:a="http://schemas.openxmlformats.org/drawingml/2006/main" l="20833" t="0" r="208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2D856-41F7-4C1F-B914-EE4EE375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525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25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rPr>
              <a:t>Agente de</a:t>
            </a:r>
          </a:p>
          <a:p xmlns:a="http://schemas.openxmlformats.org/drawingml/2006/main">
            <a:pPr algn="l">
              <a:defRPr sz="525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25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rPr>
              <a:t>equipamiento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9E984-A6B1-4E16-8605-5DF92E38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5095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Decisiones de TI con evidencia</a:t>
            </a:r>
          </a:p>
          <a:p xmlns:a="http://schemas.openxmlformats.org/drawingml/2006/main">
            <a:pPr algn="l">
              <a:defRPr sz="240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y una compra autorizada.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7CAC1-1D58-4E98-8C20-E16030CD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rPr>
              <a:t>Prototipo en simulación 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1946A-20AE-447D-A16D-B8301E1D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Reap Hackathon · Octubre 2026</a:t>
            </a:r>
          </a:p>
        </p:txBody>
      </p:sp>
    </p:spTree>
    <p:extLst>
      <p:ext uri="{BB962C8B-B14F-4D97-AF65-F5344CB8AC3E}">
        <p14:creationId xmlns:p14="http://schemas.microsoft.com/office/powerpoint/2010/main" val="4159876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E3DA3-0F68-4CAE-BD3A-5BBDE9E9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98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64680-36D9-4687-A88A-EB4C8FBA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76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rPr>
              <a:t>Un puesto bloqueado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D18C3-86C7-42DA-8DEE-5A8A58DB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975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975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rPr>
              <a:t>«La laptop no conecta</a:t>
            </a:r>
          </a:p>
          <a:p xmlns:a="http://schemas.openxmlformats.org/drawingml/2006/main">
            <a:pPr algn="l">
              <a:defRPr sz="3975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975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rPr>
              <a:t>con el monitor.»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F7487-9CF2-45DB-8416-4DB94071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TI investiga. Operaciones coordina.</a:t>
            </a:r>
          </a:p>
          <a:p xmlns:a="http://schemas.openxmlformats.org/drawingml/2006/main">
            <a:pPr algn="l">
              <a:defRPr sz="22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Alguien tiene que autorizar el gasto.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711A3-E646-43B9-A072-350D9C36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240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rPr>
              <a:t>CASO SINTÉTICO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394BB-D694-4A38-B2B6-1EC1A9B0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19375"/>
            <a:ext cx="295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rPr>
              <a:t>3 portátiles</a:t>
            </a:r>
          </a:p>
          <a:p xmlns:a="http://schemas.openxmlformats.org/drawingml/2006/main">
            <a:pPr algn="l">
              <a:defRPr sz="285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rPr>
              <a:t>3 monitores</a:t>
            </a:r>
          </a:p>
          <a:p xmlns:a="http://schemas.openxmlformats.org/drawingml/2006/main">
            <a:pPr algn="l">
              <a:defRPr sz="285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rPr>
              <a:t>2 adaptadores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7F9C5-A056-46AB-9631-508FFBE5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482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El conteo no prueba</a:t>
            </a:r>
          </a:p>
          <a:p xmlns:a="http://schemas.openxmlformats.org/drawingml/2006/main">
            <a:pPr algn="l">
              <a:defRPr sz="2025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qué pieza hace falta.</a:t>
            </a:r>
          </a:p>
        </p:txBody>
      </p:sp>
    </p:spTree>
    <p:extLst>
      <p:ext uri="{BB962C8B-B14F-4D97-AF65-F5344CB8AC3E}">
        <p14:creationId xmlns:p14="http://schemas.microsoft.com/office/powerpoint/2010/main" val="14409232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77ACC-67D6-4B24-9BA0-EC7984D0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98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513EB-2BAB-46CB-9F37-3A9EF84A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76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rPr>
              <a:t>La decisión empieza en el inventario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17F40-9733-46E3-8558-D18AC994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71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Modelos exactos + objetivo del puesto + evidencia técnica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B54C1-0EB2-4A05-896A-5C27DDEA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75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6445B-DCFD-41A7-8C9D-9C8D1E10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rPr>
              <a:t>Reutilizar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6CCDD-32E3-4745-BAB6-40948C7B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24175"/>
            <a:ext cx="600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Si el equipo disponible permite la conexión.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EF790-ABB5-4763-A5BF-3E1763FD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75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595DF-E168-4A7E-87D9-0DBFB792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rPr>
              <a:t>Pedir el dato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5B02F-B046-4443-B961-5A1AE806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952875"/>
            <a:ext cx="600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Si falta evidencia de compatibilidad.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C96A7-48DC-479F-86BB-B1DCF82B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625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775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8BD46-FE4E-4D7D-AFB5-83F7A6DE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149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rPr>
              <a:t>Comprar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B622F-B738-4A1B-B87B-90BE7771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53000"/>
            <a:ext cx="609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Solo la pieza compatible que falta,</a:t>
            </a:r>
          </a:p>
          <a:p xmlns:a="http://schemas.openxmlformats.org/drawingml/2006/main">
            <a:pPr algn="l">
              <a:defRPr sz="210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dentro del presupuesto total.</a:t>
            </a:r>
          </a:p>
        </p:txBody>
      </p:sp>
    </p:spTree>
    <p:extLst>
      <p:ext uri="{BB962C8B-B14F-4D97-AF65-F5344CB8AC3E}">
        <p14:creationId xmlns:p14="http://schemas.microsoft.com/office/powerpoint/2010/main" val="9755394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8CBF6-A6A8-4734-8EA5-E8872BAF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98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C96A9-B2E1-4709-84F8-9771DB40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76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rPr>
              <a:t>Compra aprobada y estado verificable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57A80-C2D2-4027-96FD-88BD083C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rPr>
              <a:t>Captura del prototipo: simulación local, datos sintéticos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99D5D-F997-472A-95A2-49017C5BEA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13fcabee04c75"/>
          <a:srcRect xmlns:a="http://schemas.openxmlformats.org/drawingml/2006/main" l="22500" t="20500" r="3000" b="49000"/>
          <a:stretch xmlns:a="http://schemas.openxmlformats.org/drawingml/2006/main"/>
        </p:blipFill>
        <p:spPr>
          <a:xfrm xmlns:a="http://schemas.openxmlformats.org/drawingml/2006/main">
            <a:off x="666750" y="2476500"/>
            <a:ext cx="10810875" cy="2952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A48A6-581B-4D4E-BB97-7AD092DF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rPr>
              <a:t>Pendiente: probar el Agentic module de Reap en sandbox.</a:t>
            </a:r>
          </a:p>
        </p:txBody>
      </p:sp>
    </p:spTree>
    <p:extLst>
      <p:ext uri="{BB962C8B-B14F-4D97-AF65-F5344CB8AC3E}">
        <p14:creationId xmlns:p14="http://schemas.microsoft.com/office/powerpoint/2010/main" val="1672135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0E231-93A4-4DFC-AC6E-56799C04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98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69063-5151-4674-AA28-F58FE35C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76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rPr>
              <a:t>Los límites también son parte del producto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E5B48-E253-4A9D-B883-6638AAA33C6C}"/>
              </a:ext>
            </a:extLst>
          </p:cNvPr>
          <p:cNvGraphicFramePr/>
          <p:nvPr/>
        </p:nvGraphicFramePr>
        <p:xfrm>
          <a:off xmlns:a="http://schemas.openxmlformats.org/drawingml/2006/main" x="666750" y="2143125"/>
          <a:ext xmlns:a="http://schemas.openxmlformats.org/drawingml/2006/main" cx="10810875" cy="3286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667250"/>
                <a:gridCol w="6143625"/>
              </a:tblGrid>
              <a:tr h="542925">
                <a:tc>
                  <a:txBody>
                    <a:bodyPr lIns="171450" tIns="114300" rIns="1714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Si ocurre</a:t>
                      </a:r>
                    </a:p>
                  </a:txBody>
                  <a:tcPr marL="91440" marR="91440" marT="45720" marB="45720" anchor="ctr">
                    <a:solidFill>
                      <a:srgbClr val="172026"/>
                    </a:solidFill>
                  </a:tcPr>
                </a:tc>
                <a:tc>
                  <a:txBody>
                    <a:bodyPr lIns="171450" tIns="114300" rIns="1714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Respuesta del flujo</a:t>
                      </a:r>
                    </a:p>
                  </a:txBody>
                  <a:tcPr marL="91440" marR="91440" marT="45720" marB="45720" anchor="ctr">
                    <a:solidFill>
                      <a:srgbClr val="172026"/>
                    </a:solidFill>
                  </a:tcPr>
                </a:tc>
              </a:tr>
              <a:tr h="685800">
                <a:tc>
                  <a:txBody>
                    <a:bodyPr lIns="171450" tIns="114300" rIns="171450" bIns="95250"/>
                    <a:lstStyle/>
                    <a:p>
                      <a:r>
                        <a:rPr sz="2025" b="0">
                          <a:solidFill>
                            <a:srgbClr val="172026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Compatibilidad desconocida</a:t>
                      </a:r>
                    </a:p>
                  </a:txBody>
                  <a:tcPr marL="91440" marR="91440" marT="45720" marB="45720" anchor="ctr">
                    <a:solidFill>
                      <a:srgbClr val="F5F2E9"/>
                    </a:solidFill>
                  </a:tcPr>
                </a:tc>
                <a:tc>
                  <a:txBody>
                    <a:bodyPr lIns="171450" tIns="114300" rIns="171450" bIns="95250"/>
                    <a:lstStyle/>
                    <a:p>
                      <a:r>
                        <a:rPr sz="2025" b="0">
                          <a:solidFill>
                            <a:srgbClr val="52606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Pide evidencia antes de recomendar</a:t>
                      </a:r>
                    </a:p>
                  </a:txBody>
                  <a:tcPr marL="91440" marR="91440" marT="45720" marB="45720" anchor="ctr">
                    <a:solidFill>
                      <a:srgbClr val="F5F2E9"/>
                    </a:solidFill>
                  </a:tcPr>
                </a:tc>
              </a:tr>
              <a:tr h="685800">
                <a:tc>
                  <a:txBody>
                    <a:bodyPr lIns="171450" tIns="114300" rIns="171450" bIns="95250"/>
                    <a:lstStyle/>
                    <a:p>
                      <a:r>
                        <a:rPr sz="2025" b="0">
                          <a:solidFill>
                            <a:srgbClr val="172026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Total fuera del presupuesto</a:t>
                      </a:r>
                    </a:p>
                  </a:txBody>
                  <a:tcPr marL="91440" marR="91440" marT="45720" marB="45720" anchor="ctr">
                    <a:solidFill>
                      <a:srgbClr val="F5F2E9"/>
                    </a:solidFill>
                  </a:tcPr>
                </a:tc>
                <a:tc>
                  <a:txBody>
                    <a:bodyPr lIns="171450" tIns="114300" rIns="171450" bIns="95250"/>
                    <a:lstStyle/>
                    <a:p>
                      <a:r>
                        <a:rPr sz="2025" b="0">
                          <a:solidFill>
                            <a:srgbClr val="52606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Bloquea la compra</a:t>
                      </a:r>
                    </a:p>
                  </a:txBody>
                  <a:tcPr marL="91440" marR="91440" marT="45720" marB="45720" anchor="ctr">
                    <a:solidFill>
                      <a:srgbClr val="F5F2E9"/>
                    </a:solidFill>
                  </a:tcPr>
                </a:tc>
              </a:tr>
              <a:tr h="685800">
                <a:tc>
                  <a:txBody>
                    <a:bodyPr lIns="171450" tIns="114300" rIns="171450" bIns="95250"/>
                    <a:lstStyle/>
                    <a:p>
                      <a:r>
                        <a:rPr sz="2025" b="0">
                          <a:solidFill>
                            <a:srgbClr val="172026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Cambia la cotización</a:t>
                      </a:r>
                    </a:p>
                  </a:txBody>
                  <a:tcPr marL="91440" marR="91440" marT="45720" marB="45720" anchor="ctr">
                    <a:solidFill>
                      <a:srgbClr val="F5F2E9"/>
                    </a:solidFill>
                  </a:tcPr>
                </a:tc>
                <a:tc>
                  <a:txBody>
                    <a:bodyPr lIns="171450" tIns="114300" rIns="171450" bIns="95250"/>
                    <a:lstStyle/>
                    <a:p>
                      <a:r>
                        <a:rPr sz="2025" b="0">
                          <a:solidFill>
                            <a:srgbClr val="52606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Exige una nueva aprobación</a:t>
                      </a:r>
                    </a:p>
                  </a:txBody>
                  <a:tcPr marL="91440" marR="91440" marT="45720" marB="45720" anchor="ctr">
                    <a:solidFill>
                      <a:srgbClr val="F5F2E9"/>
                    </a:solidFill>
                  </a:tcPr>
                </a:tc>
              </a:tr>
              <a:tr h="685800">
                <a:tc>
                  <a:txBody>
                    <a:bodyPr lIns="171450" tIns="114300" rIns="171450" bIns="95250"/>
                    <a:lstStyle/>
                    <a:p>
                      <a:r>
                        <a:rPr sz="2025" b="0">
                          <a:solidFill>
                            <a:srgbClr val="172026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La respuesta tarda</a:t>
                      </a:r>
                    </a:p>
                  </a:txBody>
                  <a:tcPr marL="91440" marR="91440" marT="45720" marB="45720" anchor="ctr">
                    <a:solidFill>
                      <a:srgbClr val="F5F2E9"/>
                    </a:solidFill>
                  </a:tcPr>
                </a:tc>
                <a:tc>
                  <a:txBody>
                    <a:bodyPr lIns="171450" tIns="114300" rIns="171450" bIns="95250"/>
                    <a:lstStyle/>
                    <a:p>
                      <a:r>
                        <a:rPr sz="2025" b="0">
                          <a:solidFill>
                            <a:srgbClr val="52606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Consulta el mismo intento antes de reintentar</a:t>
                      </a:r>
                    </a:p>
                  </a:txBody>
                  <a:tcPr marL="91440" marR="91440" marT="45720" marB="45720" anchor="ctr">
                    <a:solidFill>
                      <a:srgbClr val="F5F2E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4BADB-6A02-47A6-BEA0-CDDDAF51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rPr>
              <a:t>Cambio de cotización y recuperación de estados probados en simulación local.</a:t>
            </a:r>
          </a:p>
        </p:txBody>
      </p:sp>
    </p:spTree>
    <p:extLst>
      <p:ext uri="{BB962C8B-B14F-4D97-AF65-F5344CB8AC3E}">
        <p14:creationId xmlns:p14="http://schemas.microsoft.com/office/powerpoint/2010/main" val="15022117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368C3-0551-4C63-AC73-AF348F43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98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A25B3-D8E0-4393-9A08-A0012275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76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rPr>
              <a:t>Cliente inicial y alternativa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58CB3-A3F7-4FC2-81BE-FD5C6C9C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rPr>
              <a:t>HIPÓTESIS DE CLIENTE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C912C-AB6D-4836-A10F-983B1EE0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5953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925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rPr>
              <a:t>Oficinas con equipos mixtos</a:t>
            </a:r>
          </a:p>
          <a:p xmlns:a="http://schemas.openxmlformats.org/drawingml/2006/main">
            <a:pPr algn="l">
              <a:defRPr sz="2925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925" b="1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rPr>
              <a:t>y solicitudes repetidas.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7476F-8417-4D43-BD94-F84667F7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57675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TI usa el producto.</a:t>
            </a:r>
          </a:p>
          <a:p xmlns:a="http://schemas.openxmlformats.org/drawingml/2006/main">
            <a:pPr algn="l">
              <a:defRPr sz="2025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Operaciones o administración evalúa el pago.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8E069-5A8C-4FAF-97E6-6E43F37E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rPr>
              <a:t>ALTERNATIVAS DE HOY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E595E-6474-4FFC-A8BC-15991407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14625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rPr>
              <a:t>Técnico o proveedor TI</a:t>
            </a:r>
          </a:p>
          <a:p xmlns:a="http://schemas.openxmlformats.org/drawingml/2006/main">
            <a:pPr algn="l">
              <a:defRPr sz="2175" b="0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rPr>
              <a:t>Hoja de cálculo y mensajes</a:t>
            </a:r>
          </a:p>
          <a:p xmlns:a="http://schemas.openxmlformats.org/drawingml/2006/main">
            <a:pPr algn="l">
              <a:defRPr sz="2175" b="0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172026"/>
                </a:solidFill>
                <a:latin typeface="Liberation Sans"/>
                <a:ea typeface="Liberation Sans"/>
                <a:cs typeface="Liberation Sans"/>
              </a:rPr>
              <a:t>Herramienta de compras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78982-5509-4F22-B8D3-E3A86A8A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91050"/>
            <a:ext cx="4095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Apuesta por validar:</a:t>
            </a:r>
          </a:p>
          <a:p xmlns:a="http://schemas.openxmlformats.org/drawingml/2006/main">
            <a:pPr algn="l">
              <a:defRPr sz="2025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compatibilidad y reutilización</a:t>
            </a:r>
          </a:p>
          <a:p xmlns:a="http://schemas.openxmlformats.org/drawingml/2006/main">
            <a:pPr algn="l">
              <a:defRPr sz="2025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2606A"/>
                </a:solidFill>
                <a:latin typeface="Liberation Sans"/>
                <a:ea typeface="Liberation Sans"/>
                <a:cs typeface="Liberation Sans"/>
              </a:rPr>
              <a:t>con evidencia antes del gasto.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A4E98-992B-4954-A70B-86795FDC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2457D8"/>
                </a:solidFill>
                <a:latin typeface="Liberation Sans"/>
                <a:ea typeface="Liberation Sans"/>
                <a:cs typeface="Liberation Sans"/>
              </a:rPr>
              <a:t>Modelo a probar: por organización, con solicitudes limitadas.</a:t>
            </a:r>
          </a:p>
        </p:txBody>
      </p:sp>
    </p:spTree>
    <p:extLst>
      <p:ext uri="{BB962C8B-B14F-4D97-AF65-F5344CB8AC3E}">
        <p14:creationId xmlns:p14="http://schemas.microsoft.com/office/powerpoint/2010/main" val="9765644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2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0440A-91D0-4C4A-B451-06A85383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98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8B3B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8B3B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A8B3BA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B2897-7930-4803-A2EA-CF47B3D9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La siguiente prueba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37542-F0B6-4761-A283-9B6F8341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9BB7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9BB7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9BB7FF"/>
                </a:solidFill>
                <a:latin typeface="Liberation Sans"/>
                <a:ea typeface="Liberation Sans"/>
                <a:cs typeface="Liberation Sans"/>
              </a:rPr>
              <a:t>HOY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ED3EB-5DE9-49A8-A4D0-EB06B34B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52863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Prototipo local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Controles del checkout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0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probados en simulación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75AEA-A053-47D2-B8C6-9031847A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9BB7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9BB7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9BB7FF"/>
                </a:solidFill>
                <a:latin typeface="Liberation Sans"/>
                <a:ea typeface="Liberation Sans"/>
                <a:cs typeface="Liberation Sans"/>
              </a:rPr>
              <a:t>SIGUIENTE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2B0C8-66D9-4131-9450-18EA96F6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4286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Validar Reap sandbox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Proponer 5 pilotos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B9254-8096-4960-9CF5-8F2CEFA6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76725"/>
            <a:ext cx="4238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9C2C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B9C2C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B9C2C8"/>
                </a:solidFill>
                <a:latin typeface="Liberation Sans"/>
                <a:ea typeface="Liberation Sans"/>
                <a:cs typeface="Liberation Sans"/>
              </a:rPr>
              <a:t>Medir decisiones correctas,</a:t>
            </a:r>
          </a:p>
          <a:p xmlns:a="http://schemas.openxmlformats.org/drawingml/2006/main">
            <a:pPr algn="l">
              <a:defRPr sz="2100" b="0">
                <a:solidFill>
                  <a:srgbClr val="B9C2C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B9C2C8"/>
                </a:solidFill>
                <a:latin typeface="Liberation Sans"/>
                <a:ea typeface="Liberation Sans"/>
                <a:cs typeface="Liberation Sans"/>
              </a:rPr>
              <a:t>trabajo activo y pago voluntario.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7D748-7341-47F5-B35A-D76883BB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864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9BB7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9BB7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75" b="1">
                <a:solidFill>
                  <a:srgbClr val="9BB7FF"/>
                </a:solidFill>
                <a:latin typeface="Liberation Sans"/>
                <a:ea typeface="Liberation Sans"/>
                <a:cs typeface="Liberation Sans"/>
              </a:rPr>
              <a:t>¿TI resuelve mejor la solicitud con este expediente?</a:t>
            </a:r>
          </a:p>
        </p:txBody>
      </p:sp>
    </p:spTree>
    <p:extLst>
      <p:ext uri="{BB962C8B-B14F-4D97-AF65-F5344CB8AC3E}">
        <p14:creationId xmlns:p14="http://schemas.microsoft.com/office/powerpoint/2010/main" val="1639149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2026-10-10T01:09:40.5660000Z</dcterms:created>
  <dcterms:modified xsi:type="dcterms:W3CDTF">2026-10-10T01:09:40.5660000Z</dcterms:modified>
</coreProperties>
</file>